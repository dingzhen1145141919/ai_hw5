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5" r:id="rId6"/>
    <p:sldId id="266" r:id="rId7"/>
    <p:sldId id="261" r:id="rId8"/>
    <p:sldId id="267" r:id="rId9"/>
    <p:sldId id="268" r:id="rId10"/>
    <p:sldId id="258" r:id="rId11"/>
    <p:sldId id="25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5"/>
    <p:restoredTop sz="94919"/>
  </p:normalViewPr>
  <p:slideViewPr>
    <p:cSldViewPr snapToGrid="0" snapToObjects="1">
      <p:cViewPr varScale="1">
        <p:scale>
          <a:sx n="122" d="100"/>
          <a:sy n="122" d="100"/>
        </p:scale>
        <p:origin x="16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B48DC1-EF8E-5548-8728-E5BB5F3B1D6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F6FC-5F0B-D04E-A382-9CBA352C0D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这是我们的实验五数据的一个展示，会有一个图片，同时也有一个对应的文本，文本内容包括正文（这里的？？？）还有一些</a:t>
            </a:r>
            <a:r>
              <a:rPr kumimoji="1" lang="en-US" altLang="zh-CN" dirty="0"/>
              <a:t>hash tag</a:t>
            </a:r>
            <a:r>
              <a:rPr kumimoji="1" lang="en-US" altLang="zh-CN" dirty="0"/>
              <a:t>s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CF6FC-5F0B-D04E-A382-9CBA352C0D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我们的数据集以</a:t>
            </a:r>
            <a:r>
              <a:rPr lang="en-US" altLang="zh-CN"/>
              <a:t>zip</a:t>
            </a:r>
            <a:r>
              <a:rPr lang="zh-CN" altLang="en-US"/>
              <a:t>文件的形式发送到了群里，解压后有一个</a:t>
            </a:r>
            <a:r>
              <a:rPr lang="en-US" altLang="zh-CN"/>
              <a:t>data</a:t>
            </a:r>
            <a:r>
              <a:rPr lang="zh-CN" altLang="en-US"/>
              <a:t>文件夹，内有所有的训练文本和图片，一个</a:t>
            </a:r>
            <a:r>
              <a:rPr lang="en-US" altLang="zh-CN"/>
              <a:t>train.txt</a:t>
            </a:r>
            <a:r>
              <a:rPr lang="zh-CN" altLang="en-US"/>
              <a:t>文件，有数据的</a:t>
            </a:r>
            <a:r>
              <a:rPr lang="en-US" altLang="zh-CN"/>
              <a:t>id</a:t>
            </a:r>
            <a:r>
              <a:rPr lang="zh-CN" altLang="en-US"/>
              <a:t>以及标签，还有一个</a:t>
            </a:r>
            <a:r>
              <a:rPr lang="en-US" altLang="zh-CN"/>
              <a:t>test_without_label</a:t>
            </a:r>
            <a:r>
              <a:rPr lang="zh-CN" altLang="en-US"/>
              <a:t>文件，里边有</a:t>
            </a:r>
            <a:r>
              <a:rPr lang="en-US" altLang="zh-CN"/>
              <a:t>id</a:t>
            </a:r>
            <a:r>
              <a:rPr lang="zh-CN" altLang="en-US"/>
              <a:t>和空的情感标签。注意，训练集和测试集的图文数据没有分开，只是他们的</a:t>
            </a:r>
            <a:r>
              <a:rPr lang="en-US" altLang="zh-CN"/>
              <a:t>id</a:t>
            </a:r>
            <a:r>
              <a:rPr lang="zh-CN" altLang="en-US"/>
              <a:t>保存在了不同的文件里，需要大家根据这两个</a:t>
            </a:r>
            <a:r>
              <a:rPr lang="en-US" altLang="zh-CN"/>
              <a:t>txt</a:t>
            </a:r>
            <a:r>
              <a:rPr lang="zh-CN" altLang="en-US"/>
              <a:t>文件来读取</a:t>
            </a:r>
            <a:r>
              <a:rPr lang="zh-CN" altLang="en-US"/>
              <a:t>数据。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这次任务是让大家设计一个多模态融合模型，需要像之前一样自行从训练集划分验证集，调整超参数，并且预测测试集上的</a:t>
            </a:r>
            <a:r>
              <a:rPr lang="zh-CN" altLang="en-US"/>
              <a:t>标签。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大家提交的代码和报告必须保证代码可以执行，并且结果可以复现。报告内需要包含的是：</a:t>
            </a:r>
            <a:br>
              <a:rPr kumimoji="1" lang="zh-CN" altLang="en-US" dirty="0"/>
            </a:br>
            <a:r>
              <a:rPr kumimoji="1" lang="en-US" altLang="zh-CN" dirty="0"/>
              <a:t>1. </a:t>
            </a:r>
            <a:r>
              <a:rPr kumimoji="1" lang="zh-CN" altLang="en-US" dirty="0"/>
              <a:t>代码实现遇到什么问题，怎么解决</a:t>
            </a:r>
            <a:r>
              <a:rPr kumimoji="1" lang="zh-CN" altLang="en-US" dirty="0"/>
              <a:t>的</a:t>
            </a:r>
            <a:endParaRPr kumimoji="1" lang="zh-CN" altLang="en-US" dirty="0"/>
          </a:p>
          <a:p>
            <a:r>
              <a:rPr kumimoji="1" lang="en-US" altLang="zh-CN" dirty="0"/>
              <a:t>2. </a:t>
            </a:r>
            <a:r>
              <a:rPr kumimoji="1" lang="zh-CN" altLang="en-US" dirty="0"/>
              <a:t>为什么这样设计模型，这个模型的优势</a:t>
            </a:r>
            <a:r>
              <a:rPr kumimoji="1" lang="zh-CN" altLang="en-US" dirty="0"/>
              <a:t>是什么</a:t>
            </a:r>
            <a:endParaRPr kumimoji="1" lang="zh-CN" altLang="en-US" dirty="0"/>
          </a:p>
          <a:p>
            <a:r>
              <a:rPr kumimoji="1" lang="en-US" altLang="zh-CN" dirty="0"/>
              <a:t>3. </a:t>
            </a:r>
            <a:r>
              <a:rPr kumimoji="1" lang="zh-CN" altLang="en-US" dirty="0"/>
              <a:t>多模态融合模型在验证集</a:t>
            </a:r>
            <a:r>
              <a:rPr kumimoji="1" lang="zh-CN" altLang="en-US" dirty="0"/>
              <a:t>的结果</a:t>
            </a:r>
            <a:endParaRPr kumimoji="1" lang="zh-CN" altLang="en-US" dirty="0"/>
          </a:p>
          <a:p>
            <a:r>
              <a:rPr kumimoji="1" lang="en-US" altLang="zh-CN" dirty="0"/>
              <a:t>4. </a:t>
            </a:r>
            <a:r>
              <a:rPr kumimoji="1" lang="zh-CN" altLang="en-US" dirty="0"/>
              <a:t>消融实验，即只输入文本或者图像数据，那么你的模型在验证集上表现</a:t>
            </a:r>
            <a:r>
              <a:rPr kumimoji="1" lang="zh-CN" altLang="en-US" dirty="0"/>
              <a:t>如何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CF6FC-5F0B-D04E-A382-9CBA352C0D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最后一次作业我们也有一个额外的要求，需要大家通过</a:t>
            </a:r>
            <a:r>
              <a:rPr lang="en-US" altLang="zh-CN"/>
              <a:t>git</a:t>
            </a:r>
            <a:r>
              <a:rPr lang="zh-CN" altLang="en-US"/>
              <a:t>来管理自己的实验代码版本，具体的使用方法大家可以自行去搜索相关</a:t>
            </a:r>
            <a:r>
              <a:rPr lang="zh-CN" altLang="en-US"/>
              <a:t>教程。</a:t>
            </a:r>
            <a:endParaRPr lang="zh-CN" altLang="en-US"/>
          </a:p>
          <a:p>
            <a:r>
              <a:rPr lang="zh-CN" altLang="en-US"/>
              <a:t>同时需要大家将代码上传</a:t>
            </a:r>
            <a:r>
              <a:rPr lang="en-US" altLang="zh-CN"/>
              <a:t>GitHub</a:t>
            </a:r>
            <a:r>
              <a:rPr lang="zh-CN" altLang="en-US"/>
              <a:t>，并且将</a:t>
            </a:r>
            <a:r>
              <a:rPr lang="en-US" altLang="zh-CN"/>
              <a:t>GitHub</a:t>
            </a:r>
            <a:r>
              <a:rPr lang="zh-CN" altLang="en-US"/>
              <a:t>地址添加到实验报告第一页，并有一个详细、完整的</a:t>
            </a:r>
            <a:r>
              <a:rPr lang="en-US" altLang="zh-CN"/>
              <a:t>readme</a:t>
            </a:r>
            <a:endParaRPr lang="en-US" altLang="zh-CN"/>
          </a:p>
          <a:p>
            <a:r>
              <a:rPr lang="zh-CN" altLang="en-US"/>
              <a:t>下边的就是我们的</a:t>
            </a:r>
            <a:r>
              <a:rPr lang="en-US" altLang="zh-CN"/>
              <a:t>readme</a:t>
            </a:r>
            <a:r>
              <a:rPr lang="zh-CN" altLang="en-US"/>
              <a:t>的一个基本要求，需要有环境配置、文件结构、执行流程、参考文献这几个</a:t>
            </a:r>
            <a:r>
              <a:rPr lang="zh-CN" altLang="en-US"/>
              <a:t>部分。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在创新探索上，我们也给大家一些可能的方向，但是不仅限于</a:t>
            </a:r>
            <a:r>
              <a:rPr lang="zh-CN" altLang="en-US"/>
              <a:t>这些方向。</a:t>
            </a:r>
            <a:endParaRPr lang="zh-CN" altLang="en-US"/>
          </a:p>
          <a:p>
            <a:r>
              <a:rPr lang="zh-CN" altLang="en-US"/>
              <a:t>创新探索的基础要求仍然是用实验支撑你的结论，没有实验结果支撑的</a:t>
            </a:r>
            <a:r>
              <a:rPr lang="en-US" altLang="zh-CN"/>
              <a:t>“</a:t>
            </a:r>
            <a:r>
              <a:rPr lang="zh-CN" altLang="en-US"/>
              <a:t>创新</a:t>
            </a:r>
            <a:r>
              <a:rPr lang="en-US" altLang="zh-CN"/>
              <a:t>”</a:t>
            </a:r>
            <a:r>
              <a:rPr lang="zh-CN" altLang="en-US"/>
              <a:t>并不可信</a:t>
            </a:r>
            <a:endParaRPr lang="zh-CN" altLang="en-US"/>
          </a:p>
          <a:p>
            <a:r>
              <a:rPr lang="zh-CN" altLang="en-US"/>
              <a:t>创新可以分为几个</a:t>
            </a:r>
            <a:r>
              <a:rPr lang="zh-CN" altLang="en-US"/>
              <a:t>方面</a:t>
            </a:r>
            <a:endParaRPr lang="zh-CN" altLang="en-US"/>
          </a:p>
          <a:p>
            <a:r>
              <a:rPr lang="zh-CN" altLang="en-US"/>
              <a:t>预处理方面，怎么样洗数据、做</a:t>
            </a:r>
            <a:r>
              <a:rPr lang="zh-CN" altLang="en-US"/>
              <a:t>数据增强</a:t>
            </a:r>
            <a:endParaRPr lang="zh-CN" altLang="en-US"/>
          </a:p>
          <a:p>
            <a:r>
              <a:rPr lang="zh-CN" altLang="en-US"/>
              <a:t>模型架构上，怎么融合两个模态，这里大家可以自行搜索一些相关的知识，比如多模态融合的</a:t>
            </a:r>
            <a:r>
              <a:rPr lang="en-US" altLang="zh-CN"/>
              <a:t>late fusion/ early fusion</a:t>
            </a:r>
            <a:r>
              <a:rPr lang="zh-CN" altLang="en-US"/>
              <a:t>，经典的多模态模型</a:t>
            </a:r>
            <a:r>
              <a:rPr lang="en-US" altLang="zh-CN"/>
              <a:t> </a:t>
            </a:r>
            <a:r>
              <a:rPr lang="en-US" altLang="zh-CN"/>
              <a:t>clip/ blip</a:t>
            </a:r>
            <a:endParaRPr lang="en-US" altLang="zh-CN"/>
          </a:p>
          <a:p>
            <a:r>
              <a:rPr lang="zh-CN" altLang="en-US"/>
              <a:t>实验设置，怎么样能够设置公平的、控制变量的实验来比较不同的</a:t>
            </a:r>
            <a:r>
              <a:rPr lang="zh-CN" altLang="en-US"/>
              <a:t>模型架构</a:t>
            </a:r>
            <a:endParaRPr lang="zh-CN" altLang="en-US"/>
          </a:p>
          <a:p>
            <a:r>
              <a:rPr lang="zh-CN" altLang="en-US"/>
              <a:t>模型改进上，怎么样迭代改进模型，比如从数据出发，查看</a:t>
            </a:r>
            <a:r>
              <a:rPr lang="en-US" altLang="zh-CN"/>
              <a:t>bad case</a:t>
            </a:r>
            <a:r>
              <a:rPr lang="zh-CN" altLang="en-US"/>
              <a:t>，然后做</a:t>
            </a:r>
            <a:r>
              <a:rPr lang="zh-CN" altLang="en-US"/>
              <a:t>数据增强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50000"/>
              </a:lnSpc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defRPr>
            </a:lvl1pPr>
          </a:lstStyle>
          <a:p>
            <a:fld id="{16519F75-1359-3649-AF4C-DE91DCDCC81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lnSpc>
                <a:spcPct val="150000"/>
              </a:lnSpc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50000"/>
              </a:lnSpc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黑体" panose="02010609060101010101" pitchFamily="49" charset="-122"/>
                <a:cs typeface="Arial" panose="020B0604020202090204" pitchFamily="34" charset="0"/>
              </a:defRPr>
            </a:lvl1pPr>
          </a:lstStyle>
          <a:p>
            <a:fld id="{F987496F-8A2D-0741-BA92-08917D77AA9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Arial" panose="020B060402020209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Arial" panose="020B060402020209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Arial" panose="020B060402020209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Arial" panose="020B060402020209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Arial" panose="020B060402020209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Arial" panose="020B0604020202090204" pitchFamily="34" charset="0"/>
          <a:ea typeface="黑体" panose="02010609060101010101" pitchFamily="49" charset="-122"/>
          <a:cs typeface="Arial" panose="020B060402020209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235200"/>
            <a:ext cx="7772400" cy="2387600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实验五：</a:t>
            </a:r>
            <a:br>
              <a:rPr kumimoji="1" lang="en-US" altLang="zh-CN" dirty="0"/>
            </a:br>
            <a:r>
              <a:rPr kumimoji="1" lang="zh-CN" altLang="en-US" dirty="0"/>
              <a:t>多模态情感分</a:t>
            </a:r>
            <a:r>
              <a:rPr kumimoji="1" lang="zh-CN" altLang="en-US" dirty="0"/>
              <a:t>类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实验任务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给定配对的文本和图像，预测对应的情感标签。</a:t>
            </a:r>
            <a:endParaRPr kumimoji="1" lang="en-US" altLang="zh-CN" dirty="0"/>
          </a:p>
          <a:p>
            <a:r>
              <a:rPr kumimoji="1" lang="zh-CN" altLang="en-US" dirty="0"/>
              <a:t>三分类任务：</a:t>
            </a:r>
            <a:r>
              <a:rPr kumimoji="1" lang="en-US" altLang="zh-CN" dirty="0"/>
              <a:t>positive,</a:t>
            </a:r>
            <a:r>
              <a:rPr kumimoji="1" lang="zh-CN" altLang="en-US" dirty="0"/>
              <a:t> </a:t>
            </a:r>
            <a:r>
              <a:rPr kumimoji="1" lang="en-US" altLang="zh-CN" dirty="0"/>
              <a:t>neutral,</a:t>
            </a:r>
            <a:r>
              <a:rPr kumimoji="1" lang="zh-CN" altLang="en-US" dirty="0"/>
              <a:t> </a:t>
            </a:r>
            <a:r>
              <a:rPr kumimoji="1" lang="en-US" altLang="zh-CN" dirty="0"/>
              <a:t>negative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dirty="0"/>
              <a:t>Positive</a:t>
            </a:r>
            <a:endParaRPr kumimoji="1"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372" y="3549747"/>
            <a:ext cx="2754586" cy="153443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523834" y="4131851"/>
            <a:ext cx="4767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dirty="0"/>
              <a:t>'??? #stunned #sunglasses #</a:t>
            </a:r>
            <a:r>
              <a:rPr lang="en-GB" altLang="zh-CN" dirty="0" err="1"/>
              <a:t>gafas</a:t>
            </a:r>
            <a:r>
              <a:rPr lang="en-GB" altLang="zh-CN" dirty="0"/>
              <a:t> #</a:t>
            </a:r>
            <a:r>
              <a:rPr lang="en-GB" altLang="zh-CN" dirty="0" err="1"/>
              <a:t>gafasdesol</a:t>
            </a:r>
            <a:r>
              <a:rPr lang="en-GB" altLang="zh-CN" dirty="0"/>
              <a:t> \n'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实验数据集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5057447" cy="4351338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匿名数据集（实验五数据</a:t>
            </a:r>
            <a:r>
              <a:rPr kumimoji="1" lang="en-US" altLang="zh-CN" dirty="0"/>
              <a:t>.zip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data</a:t>
            </a:r>
            <a:r>
              <a:rPr kumimoji="1" lang="zh-CN" altLang="en-US" dirty="0"/>
              <a:t>文件夹：包括所有的训练文本和图片，每个文件按照唯一的</a:t>
            </a:r>
            <a:r>
              <a:rPr kumimoji="1" lang="en-US" altLang="zh-CN" dirty="0" err="1"/>
              <a:t>guid</a:t>
            </a:r>
            <a:r>
              <a:rPr kumimoji="1" lang="zh-CN" altLang="en-US" dirty="0"/>
              <a:t>命名。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train.txt</a:t>
            </a:r>
            <a:r>
              <a:rPr kumimoji="1" lang="en-US" altLang="zh-CN" dirty="0"/>
              <a:t>:</a:t>
            </a:r>
            <a:r>
              <a:rPr kumimoji="1" lang="zh-CN" altLang="en-US" dirty="0"/>
              <a:t> 数据的</a:t>
            </a:r>
            <a:r>
              <a:rPr kumimoji="1" lang="en-US" altLang="zh-CN" dirty="0" err="1"/>
              <a:t>guid</a:t>
            </a:r>
            <a:r>
              <a:rPr kumimoji="1" lang="zh-CN" altLang="en-US" dirty="0"/>
              <a:t>和对应的情感标签。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test_without_label.txt</a:t>
            </a:r>
            <a:r>
              <a:rPr kumimoji="1" lang="zh-CN" altLang="en-US" dirty="0"/>
              <a:t>：数据的</a:t>
            </a:r>
            <a:r>
              <a:rPr kumimoji="1" lang="en-US" altLang="zh-CN" dirty="0" err="1"/>
              <a:t>guid</a:t>
            </a:r>
            <a:r>
              <a:rPr kumimoji="1" lang="zh-CN" altLang="en-US" dirty="0"/>
              <a:t>和空的情感标签。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0156" y="2254250"/>
            <a:ext cx="901700" cy="1511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156" y="4329111"/>
            <a:ext cx="1168400" cy="838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656" y="5522310"/>
            <a:ext cx="7874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实验</a:t>
            </a:r>
            <a:r>
              <a:rPr kumimoji="1" lang="zh-CN" altLang="en-US" dirty="0"/>
              <a:t>任务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设计一个多模态融合模型。</a:t>
            </a:r>
            <a:endParaRPr kumimoji="1" lang="en-US" altLang="zh-CN" dirty="0"/>
          </a:p>
          <a:p>
            <a:r>
              <a:rPr kumimoji="1" lang="zh-CN" altLang="en-US" dirty="0"/>
              <a:t>自行从训练集中划分验证集，调整超参数。</a:t>
            </a:r>
            <a:endParaRPr kumimoji="1" lang="en-US" altLang="zh-CN" dirty="0"/>
          </a:p>
          <a:p>
            <a:r>
              <a:rPr kumimoji="1" lang="zh-CN" altLang="en-US" dirty="0"/>
              <a:t>预测测试集（</a:t>
            </a:r>
            <a:r>
              <a:rPr kumimoji="1" lang="en-US" altLang="zh-CN" dirty="0" err="1"/>
              <a:t>test_without_label.txt</a:t>
            </a:r>
            <a:r>
              <a:rPr kumimoji="1" lang="zh-CN" altLang="en-US" dirty="0"/>
              <a:t>）上的情感标签。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代码和报告要求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92500"/>
          </a:bodyPr>
          <a:lstStyle/>
          <a:p>
            <a:r>
              <a:rPr kumimoji="1" lang="zh-CN" altLang="en-US" dirty="0"/>
              <a:t>代码可执行，结果可复现。</a:t>
            </a:r>
            <a:endParaRPr kumimoji="1" lang="en-US" altLang="zh-CN" dirty="0"/>
          </a:p>
          <a:p>
            <a:r>
              <a:rPr kumimoji="1" lang="zh-CN" altLang="en-US" dirty="0"/>
              <a:t>报告必须包含的四点：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代码实现时遇到了哪些</a:t>
            </a:r>
            <a:r>
              <a:rPr kumimoji="1" lang="en-US" altLang="zh-CN" dirty="0"/>
              <a:t>bug</a:t>
            </a:r>
            <a:r>
              <a:rPr kumimoji="1" lang="zh-CN" altLang="en-US" dirty="0"/>
              <a:t>？如何解决的？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你为什么会设计这样的模型？你觉得你的模型有什么亮点？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多模态融合模型在验证集上的结果。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消融实验结果。即分别只输入文本或图像数据，你的多模态融合模型在验证集会获得怎样的表现。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额外要求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757045"/>
            <a:ext cx="7886700" cy="4351338"/>
          </a:xfrm>
        </p:spPr>
        <p:txBody>
          <a:bodyPr>
            <a:normAutofit fontScale="72500"/>
          </a:bodyPr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git</a:t>
            </a:r>
            <a:r>
              <a:rPr kumimoji="1" lang="zh-CN" altLang="en-US" dirty="0"/>
              <a:t>管理自己的实验代码版本，并且</a:t>
            </a:r>
            <a:r>
              <a:rPr kumimoji="1" lang="zh-CN" altLang="en-US" dirty="0"/>
              <a:t>将代码上传到</a:t>
            </a:r>
            <a:r>
              <a:rPr kumimoji="1" lang="en-US" altLang="zh-CN" dirty="0" err="1"/>
              <a:t>github</a:t>
            </a:r>
            <a:r>
              <a:rPr kumimoji="1" lang="zh-CN" altLang="en-US" dirty="0"/>
              <a:t>，将该</a:t>
            </a:r>
            <a:r>
              <a:rPr kumimoji="1" lang="en-US" altLang="zh-CN" dirty="0" err="1"/>
              <a:t>github</a:t>
            </a:r>
            <a:r>
              <a:rPr kumimoji="1" lang="zh-CN" altLang="en-US" dirty="0"/>
              <a:t>地址添加到报告中第一页。要求有完整详细的</a:t>
            </a:r>
            <a:r>
              <a:rPr kumimoji="1" lang="en-US" altLang="zh-CN" dirty="0"/>
              <a:t>readme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执行你代码所需要的环境。写在一个</a:t>
            </a:r>
            <a:r>
              <a:rPr kumimoji="1" lang="en-US" altLang="zh-CN" dirty="0" err="1"/>
              <a:t>requirements.txt</a:t>
            </a:r>
            <a:r>
              <a:rPr kumimoji="1" lang="zh-CN" altLang="en-US" dirty="0"/>
              <a:t>中。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你的代码文件结构。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执行你代码的完整流程。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你这篇代码参考哪些</a:t>
            </a:r>
            <a:r>
              <a:rPr kumimoji="1" lang="zh-CN" altLang="en-US" dirty="0"/>
              <a:t>仓库、哪些</a:t>
            </a:r>
            <a:r>
              <a:rPr kumimoji="1" lang="zh-CN" altLang="en-US" dirty="0"/>
              <a:t>论文实现的。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可参考</a:t>
            </a:r>
            <a:r>
              <a:rPr kumimoji="1" lang="en-US" altLang="zh-CN"/>
              <a:t>https://github.com/RecklessRonan/GloGNN/blob/master/readme.md</a:t>
            </a:r>
            <a:endParaRPr kumimoji="1"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创新</a:t>
            </a:r>
            <a:r>
              <a:rPr lang="zh-CN" altLang="en-US"/>
              <a:t>探索提示：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zh-CN" altLang="en-US"/>
              <a:t>用实验支撑你的结论，缺乏实验的结论并不</a:t>
            </a:r>
            <a:r>
              <a:rPr lang="zh-CN" altLang="en-US"/>
              <a:t>可信</a:t>
            </a:r>
            <a:endParaRPr lang="zh-CN" altLang="en-US"/>
          </a:p>
          <a:p>
            <a:r>
              <a:rPr lang="zh-CN" altLang="en-US"/>
              <a:t>数据预处理上对文本进行清洗、对图片进行</a:t>
            </a:r>
            <a:r>
              <a:rPr lang="zh-CN" altLang="en-US"/>
              <a:t>增强</a:t>
            </a:r>
            <a:endParaRPr lang="zh-CN" altLang="en-US"/>
          </a:p>
          <a:p>
            <a:r>
              <a:rPr lang="zh-CN" altLang="en-US"/>
              <a:t>模型架构上融合两个模态有什么</a:t>
            </a:r>
            <a:r>
              <a:rPr lang="zh-CN" altLang="en-US"/>
              <a:t>方法</a:t>
            </a:r>
            <a:endParaRPr lang="zh-CN" altLang="en-US"/>
          </a:p>
          <a:p>
            <a:pPr lvl="1"/>
            <a:r>
              <a:rPr lang="en-US" altLang="zh-CN"/>
              <a:t>Hint</a:t>
            </a:r>
            <a:r>
              <a:rPr lang="zh-CN" altLang="en-US"/>
              <a:t>：可能的</a:t>
            </a:r>
            <a:r>
              <a:rPr lang="zh-CN" altLang="en-US"/>
              <a:t>检索关键词</a:t>
            </a:r>
            <a:r>
              <a:rPr lang="en-US" altLang="zh-CN"/>
              <a:t>Late Fusion, Early Fusion, Clip, </a:t>
            </a:r>
            <a:r>
              <a:rPr lang="en-US" altLang="zh-CN"/>
              <a:t>Blip...</a:t>
            </a:r>
            <a:endParaRPr lang="en-US" altLang="zh-CN"/>
          </a:p>
          <a:p>
            <a:r>
              <a:rPr lang="zh-CN" altLang="en-US"/>
              <a:t>设置</a:t>
            </a:r>
            <a:r>
              <a:rPr lang="zh-CN" altLang="en-US"/>
              <a:t>实验公平地对比不同的模型架构</a:t>
            </a:r>
            <a:endParaRPr lang="zh-CN" altLang="en-US"/>
          </a:p>
          <a:p>
            <a:pPr lvl="1"/>
            <a:r>
              <a:rPr lang="en-US" altLang="zh-CN" sz="2400"/>
              <a:t>Hint</a:t>
            </a:r>
            <a:r>
              <a:rPr lang="zh-CN" altLang="en-US" sz="2400"/>
              <a:t>：对比实验中尽量控制架构以外的可能影响</a:t>
            </a:r>
            <a:r>
              <a:rPr lang="zh-CN" altLang="en-US" sz="2400"/>
              <a:t>性能的变量</a:t>
            </a:r>
            <a:endParaRPr lang="zh-CN" altLang="en-US"/>
          </a:p>
          <a:p>
            <a:r>
              <a:rPr lang="zh-CN" altLang="en-US"/>
              <a:t>尝试从数据出发迭代改进你的</a:t>
            </a:r>
            <a:r>
              <a:rPr lang="zh-CN" altLang="en-US"/>
              <a:t>模型</a:t>
            </a:r>
            <a:endParaRPr lang="zh-CN" altLang="en-US"/>
          </a:p>
          <a:p>
            <a:pPr lvl="1"/>
            <a:r>
              <a:rPr lang="en-US" altLang="zh-CN" sz="2400"/>
              <a:t>Hint</a:t>
            </a:r>
            <a:r>
              <a:rPr lang="zh-CN" altLang="en-US" sz="2400"/>
              <a:t>：对</a:t>
            </a:r>
            <a:r>
              <a:rPr lang="en-US" altLang="zh-CN" sz="2400"/>
              <a:t>bad case</a:t>
            </a:r>
            <a:r>
              <a:rPr lang="zh-CN" altLang="en-US" sz="2400"/>
              <a:t>做数据增强、尝试改进模型架构、尝试改进数据预处理方案</a:t>
            </a:r>
            <a:endParaRPr lang="zh-CN" altLang="en-US"/>
          </a:p>
          <a:p>
            <a:r>
              <a:rPr lang="en-US" altLang="zh-CN"/>
              <a:t>…………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提交要求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kumimoji="1" lang="zh-CN" altLang="en-US" dirty="0"/>
              <a:t>提交内容：代码</a:t>
            </a:r>
            <a:r>
              <a:rPr kumimoji="1" lang="en-US" altLang="zh-CN" dirty="0"/>
              <a:t>+</a:t>
            </a:r>
            <a:r>
              <a:rPr kumimoji="1" lang="zh-CN" altLang="en-US" dirty="0"/>
              <a:t>报告</a:t>
            </a:r>
            <a:r>
              <a:rPr kumimoji="1" lang="en-US" altLang="zh-CN" dirty="0"/>
              <a:t>+</a:t>
            </a:r>
            <a:r>
              <a:rPr kumimoji="1" lang="zh-CN" altLang="en-US" dirty="0"/>
              <a:t>测试集结果文件。提交命名：学号</a:t>
            </a:r>
            <a:r>
              <a:rPr kumimoji="1" lang="en-US" altLang="zh-CN" dirty="0"/>
              <a:t>-</a:t>
            </a:r>
            <a:r>
              <a:rPr kumimoji="1" lang="zh-CN" altLang="en-US" dirty="0"/>
              <a:t>姓名</a:t>
            </a:r>
            <a:r>
              <a:rPr kumimoji="1" lang="en-US" altLang="zh-CN" dirty="0"/>
              <a:t>-</a:t>
            </a:r>
            <a:r>
              <a:rPr kumimoji="1" lang="zh-CN" altLang="en-US" dirty="0"/>
              <a:t>实验五。报告应以</a:t>
            </a:r>
            <a:r>
              <a:rPr kumimoji="1" lang="en-US" altLang="zh-CN" dirty="0"/>
              <a:t>pdf</a:t>
            </a:r>
            <a:r>
              <a:rPr kumimoji="1" lang="zh-CN" altLang="en-US" dirty="0"/>
              <a:t>格式提交，不超过</a:t>
            </a:r>
            <a:r>
              <a:rPr kumimoji="1" lang="en-US" altLang="zh-CN" dirty="0"/>
              <a:t>5</a:t>
            </a:r>
            <a:r>
              <a:rPr kumimoji="1" lang="zh-CN" altLang="en-US" dirty="0"/>
              <a:t>页。请勿提交原始数据文件！</a:t>
            </a:r>
            <a:endParaRPr kumimoji="1" lang="en-US" altLang="zh-CN" dirty="0"/>
          </a:p>
          <a:p>
            <a:r>
              <a:rPr kumimoji="1" lang="zh-CN" altLang="en-US" dirty="0"/>
              <a:t>测试集结果文件直接把对应标签位置的</a:t>
            </a:r>
            <a:r>
              <a:rPr kumimoji="1" lang="en-US" altLang="zh-CN" dirty="0"/>
              <a:t>null</a:t>
            </a:r>
            <a:r>
              <a:rPr kumimoji="1" lang="zh-CN" altLang="en-US" dirty="0"/>
              <a:t>换成</a:t>
            </a:r>
            <a:r>
              <a:rPr kumimoji="1" lang="en-US" altLang="zh-CN" dirty="0"/>
              <a:t>positive</a:t>
            </a:r>
            <a:r>
              <a:rPr kumimoji="1" lang="zh-CN" altLang="en-US" dirty="0"/>
              <a:t>或</a:t>
            </a:r>
            <a:r>
              <a:rPr kumimoji="1" lang="en-US" altLang="zh-CN" dirty="0"/>
              <a:t>neutral</a:t>
            </a:r>
            <a:r>
              <a:rPr kumimoji="1" lang="zh-CN" altLang="en-US" dirty="0"/>
              <a:t>或</a:t>
            </a:r>
            <a:r>
              <a:rPr kumimoji="1" lang="en-US" altLang="zh-CN" dirty="0"/>
              <a:t>negative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zh-CN" altLang="en-US" dirty="0"/>
              <a:t>截止时间：</a:t>
            </a:r>
            <a:r>
              <a:rPr kumimoji="1" lang="en-US" altLang="zh-CN" dirty="0"/>
              <a:t>2026</a:t>
            </a:r>
            <a:r>
              <a:rPr kumimoji="1" lang="zh-CN" altLang="en-US" dirty="0"/>
              <a:t>年</a:t>
            </a:r>
            <a:r>
              <a:rPr kumimoji="1" lang="en-US" altLang="zh-CN" dirty="0"/>
              <a:t>1</a:t>
            </a:r>
            <a:r>
              <a:rPr kumimoji="1" lang="zh-CN" altLang="en-US" dirty="0"/>
              <a:t>月</a:t>
            </a:r>
            <a:r>
              <a:rPr kumimoji="1" lang="en-US" altLang="zh-CN" dirty="0"/>
              <a:t>28</a:t>
            </a:r>
            <a:r>
              <a:rPr kumimoji="1" lang="zh-CN" altLang="en-US" dirty="0"/>
              <a:t>号</a:t>
            </a:r>
            <a:r>
              <a:rPr kumimoji="1" lang="en-US" altLang="zh-CN" dirty="0"/>
              <a:t>23:59:59</a:t>
            </a:r>
            <a:endParaRPr kumimoji="1" lang="en-US" altLang="zh-CN" dirty="0"/>
          </a:p>
          <a:p>
            <a:r>
              <a:rPr kumimoji="1" lang="zh-CN" altLang="en-US" dirty="0"/>
              <a:t>提交到邮箱：赵艺博</a:t>
            </a:r>
            <a:r>
              <a:rPr kumimoji="1"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</a:t>
            </a:r>
            <a:r>
              <a:rPr kumimoji="1"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yibozhao@stu.ecnu.edu.cn&gt;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评分细则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代码（</a:t>
            </a:r>
            <a:r>
              <a:rPr kumimoji="1" lang="en-US" altLang="zh-CN" dirty="0"/>
              <a:t>2</a:t>
            </a:r>
            <a:r>
              <a:rPr kumimoji="1" lang="en-US" altLang="zh-CN" dirty="0"/>
              <a:t>0%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 err="1"/>
              <a:t>Github</a:t>
            </a:r>
            <a:r>
              <a:rPr kumimoji="1" lang="zh-CN" altLang="en-US" dirty="0"/>
              <a:t>设置（</a:t>
            </a:r>
            <a:r>
              <a:rPr kumimoji="1" lang="en-US" altLang="zh-CN" dirty="0"/>
              <a:t>10%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报告（</a:t>
            </a:r>
            <a:r>
              <a:rPr kumimoji="1" lang="en-US" altLang="zh-CN" dirty="0"/>
              <a:t>60%</a:t>
            </a:r>
            <a:r>
              <a:rPr kumimoji="1" lang="zh-CN" altLang="en-US" dirty="0"/>
              <a:t>）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基础内容</a:t>
            </a:r>
            <a:r>
              <a:rPr kumimoji="1" lang="en-US" altLang="zh-CN" dirty="0"/>
              <a:t> 60% * 60% = 36%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创新探索</a:t>
            </a:r>
            <a:r>
              <a:rPr kumimoji="1" lang="en-US" altLang="zh-CN" dirty="0"/>
              <a:t> 40% * 60% = 24%</a:t>
            </a:r>
            <a:endParaRPr kumimoji="1" lang="en-US" altLang="zh-CN" dirty="0"/>
          </a:p>
          <a:p>
            <a:r>
              <a:rPr kumimoji="1" lang="zh-CN" altLang="en-US" dirty="0"/>
              <a:t>测试集结果（</a:t>
            </a:r>
            <a:r>
              <a:rPr kumimoji="1" lang="en-US" altLang="zh-CN" dirty="0"/>
              <a:t>10%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1139</Words>
  <Application>WPS 文字</Application>
  <PresentationFormat>全屏显示(4:3)</PresentationFormat>
  <Paragraphs>78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宋体</vt:lpstr>
      <vt:lpstr>Wingdings</vt:lpstr>
      <vt:lpstr>黑体</vt:lpstr>
      <vt:lpstr>汉仪中黑KW</vt:lpstr>
      <vt:lpstr>微软雅黑</vt:lpstr>
      <vt:lpstr>汉仪旗黑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微软雅黑</vt:lpstr>
      <vt:lpstr>黑体</vt:lpstr>
      <vt:lpstr>Office 主题​​</vt:lpstr>
      <vt:lpstr>实验五： 多模态情感分析</vt:lpstr>
      <vt:lpstr>实验任务</vt:lpstr>
      <vt:lpstr>实验数据集</vt:lpstr>
      <vt:lpstr>实验任务</vt:lpstr>
      <vt:lpstr>代码和报告要求</vt:lpstr>
      <vt:lpstr>额外要求</vt:lpstr>
      <vt:lpstr>创新探索提示：</vt:lpstr>
      <vt:lpstr>提交要求</vt:lpstr>
      <vt:lpstr>评分细则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Yoli</cp:lastModifiedBy>
  <cp:revision>384</cp:revision>
  <dcterms:created xsi:type="dcterms:W3CDTF">2025-12-25T01:45:56Z</dcterms:created>
  <dcterms:modified xsi:type="dcterms:W3CDTF">2025-12-25T01:45:56Z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D34AA030451A40FF8D2889AD33515EB6_13</vt:lpwstr>
  </property>
  <property fmtid="{D5CDD505-2E9C-101B-9397-08002B2CF9AE}" pid="3" name="KSOProductBuildVer">
    <vt:lpwstr>2052-6.15.2.8936</vt:lpwstr>
  </property>
</Properties>
</file>